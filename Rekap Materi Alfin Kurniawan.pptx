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slides/slide28.xml" ContentType="application/vnd.openxmlformats-officedocument.presentationml.slide+xml"/>
  <ns0:Override PartName="/ppt/slides/slide29.xml" ContentType="application/vnd.openxmlformats-officedocument.presentationml.slide+xml"/>
  <ns0:Override PartName="/ppt/slides/slide3.xml" ContentType="application/vnd.openxmlformats-officedocument.presentationml.slide+xml"/>
  <ns0:Override PartName="/ppt/slides/slide30.xml" ContentType="application/vnd.openxmlformats-officedocument.presentationml.slide+xml"/>
  <ns0:Override PartName="/ppt/slides/slide31.xml" ContentType="application/vnd.openxmlformats-officedocument.presentationml.slide+xml"/>
  <ns0:Override PartName="/ppt/slides/slide32.xml" ContentType="application/vnd.openxmlformats-officedocument.presentationml.slide+xml"/>
  <ns0:Override PartName="/ppt/slides/slide33.xml" ContentType="application/vnd.openxmlformats-officedocument.presentationml.slide+xml"/>
  <ns0:Override PartName="/ppt/slides/slide34.xml" ContentType="application/vnd.openxmlformats-officedocument.presentationml.slide+xml"/>
  <ns0:Override PartName="/ppt/slides/slide35.xml" ContentType="application/vnd.openxmlformats-officedocument.presentationml.slide+xml"/>
  <ns0:Override PartName="/ppt/slides/slide36.xml" ContentType="application/vnd.openxmlformats-officedocument.presentationml.slide+xml"/>
  <ns0:Override PartName="/ppt/slides/slide37.xml" ContentType="application/vnd.openxmlformats-officedocument.presentationml.slide+xml"/>
  <ns0:Override PartName="/ppt/slides/slide38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  <ns0:sldId id="282" ns1:id="rId33"/>
    <ns0:sldId id="283" ns1:id="rId34"/>
    <ns0:sldId id="284" ns1:id="rId35"/>
    <ns0:sldId id="285" ns1:id="rId36"/>
    <ns0:sldId id="286" ns1:id="rId37"/>
    <ns0:sldId id="287" ns1:id="rId38"/>
    <ns0:sldId id="288" ns1:id="rId39"/>
    <ns0:sldId id="289" ns1:id="rId40"/>
    <ns0:sldId id="290" ns1:id="rId41"/>
    <ns0:sldId id="291" ns1:id="rId42"/>
    <ns0:sldId id="292" ns1:id="rId43"/>
    <ns0:sldId id="293" ns1:id="rId44"/>
  </ns0:sldIdLst>
  <ns0:sldSz cx="12192000" cy="6858000" type="screen4x3"/>
  <ns0:notesSz cx="6858000" cy="9144000"/>
  <ns0:embeddedFontLst>
    <ns0:embeddedFont>
      <ns0:font typeface="JetBrains Mono"/>
      <ns0:regular ns1:id="rIdFont45"/>
    </ns0:embeddedFont>
    <ns0:embeddedFont>
      <ns0:font typeface="Inter"/>
      <ns0:bold ns1:id="rIdFont46"/>
      <ns0:regular ns1:id="rIdFont4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27" Type="http://schemas.openxmlformats.org/officeDocument/2006/relationships/slide" Target="slides/slide21.xml" /><ns0:Relationship Id="rId28" Type="http://schemas.openxmlformats.org/officeDocument/2006/relationships/slide" Target="slides/slide22.xml" /><ns0:Relationship Id="rId29" Type="http://schemas.openxmlformats.org/officeDocument/2006/relationships/slide" Target="slides/slide23.xml" /><ns0:Relationship Id="rId30" Type="http://schemas.openxmlformats.org/officeDocument/2006/relationships/slide" Target="slides/slide24.xml" /><ns0:Relationship Id="rId31" Type="http://schemas.openxmlformats.org/officeDocument/2006/relationships/slide" Target="slides/slide25.xml" /><ns0:Relationship Id="rId32" Type="http://schemas.openxmlformats.org/officeDocument/2006/relationships/slide" Target="slides/slide26.xml" /><ns0:Relationship Id="rId33" Type="http://schemas.openxmlformats.org/officeDocument/2006/relationships/slide" Target="slides/slide27.xml" /><ns0:Relationship Id="rId34" Type="http://schemas.openxmlformats.org/officeDocument/2006/relationships/slide" Target="slides/slide28.xml" /><ns0:Relationship Id="rId35" Type="http://schemas.openxmlformats.org/officeDocument/2006/relationships/slide" Target="slides/slide29.xml" /><ns0:Relationship Id="rId36" Type="http://schemas.openxmlformats.org/officeDocument/2006/relationships/slide" Target="slides/slide30.xml" /><ns0:Relationship Id="rId37" Type="http://schemas.openxmlformats.org/officeDocument/2006/relationships/slide" Target="slides/slide31.xml" /><ns0:Relationship Id="rId38" Type="http://schemas.openxmlformats.org/officeDocument/2006/relationships/slide" Target="slides/slide32.xml" /><ns0:Relationship Id="rId39" Type="http://schemas.openxmlformats.org/officeDocument/2006/relationships/slide" Target="slides/slide33.xml" /><ns0:Relationship Id="rId40" Type="http://schemas.openxmlformats.org/officeDocument/2006/relationships/slide" Target="slides/slide34.xml" /><ns0:Relationship Id="rId41" Type="http://schemas.openxmlformats.org/officeDocument/2006/relationships/slide" Target="slides/slide35.xml" /><ns0:Relationship Id="rId42" Type="http://schemas.openxmlformats.org/officeDocument/2006/relationships/slide" Target="slides/slide36.xml" /><ns0:Relationship Id="rId43" Type="http://schemas.openxmlformats.org/officeDocument/2006/relationships/slide" Target="slides/slide37.xml" /><ns0:Relationship Id="rId44" Type="http://schemas.openxmlformats.org/officeDocument/2006/relationships/slide" Target="slides/slide38.xml" /><ns0:Relationship Id="rIdFont45" Type="http://schemas.openxmlformats.org/officeDocument/2006/relationships/font" Target="fonts/8da6a78b-d308-4301-b214-236962897987.fntdata" /><ns0:Relationship Id="rIdFont46" Type="http://schemas.openxmlformats.org/officeDocument/2006/relationships/font" Target="fonts/22b37354-c49c-45c8-98b8-599ae6ce8349.fntdata" /><ns0:Relationship Id="rIdFont47" Type="http://schemas.openxmlformats.org/officeDocument/2006/relationships/font" Target="fonts/90d65879-6815-43fa-a28f-7c5e41e9f4a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693890"/>
            <a:ext cx="76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30709"/>
            <a:ext cx="51435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055840"/>
            <a:ext cx="1905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850" y="5055840"/>
            <a:ext cx="17145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5875" y="5055840"/>
            <a:ext cx="1905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2316509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Inter"/>
              </a:rPr>
              <a:t>Pemrograman Mobile Android dengan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684240"/>
            <a:ext cx="77152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Panduan Berkelanjutan dari Dasar Arsitektur, UI/UX, Background Task, hingga Penyimpanan Data Lokal &amp; Firebase Cloud.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1764059"/>
            <a:ext cx="3714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MODUL PERKULIAHAN LENGKAP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036790"/>
            <a:ext cx="2309812" cy="190500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Inter"/>
              </a:rPr>
              <a:t>Penulis: Erma Susanti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850" y="5036790"/>
            <a:ext cx="2155031" cy="190500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Inter"/>
              </a:rPr>
              <a:t>6 Bab Modul Utama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5875" y="5036790"/>
            <a:ext cx="2143125" cy="190500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Inter"/>
              </a:rPr>
              <a:t>Materi Kuliah S1/D3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010775" y="643830"/>
            <a:ext cx="1571625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849040"/>
            <a:ext cx="3530500" cy="1992362"/>
          </a:xfrm>
          <a:prstGeom prst="roundRect">
            <a:avLst>
              <a:gd name="adj" fmla="val 57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600" y="1849040"/>
            <a:ext cx="3530649" cy="1992362"/>
          </a:xfrm>
          <a:prstGeom prst="roundRect">
            <a:avLst>
              <a:gd name="adj" fmla="val 57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750" y="1955601"/>
            <a:ext cx="3530500" cy="1779091"/>
          </a:xfrm>
          <a:prstGeom prst="roundRect">
            <a:avLst>
              <a:gd name="adj" fmla="val 64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138463"/>
            <a:ext cx="3530500" cy="1779091"/>
          </a:xfrm>
          <a:prstGeom prst="roundRect">
            <a:avLst>
              <a:gd name="adj" fmla="val 64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30600" y="4031902"/>
            <a:ext cx="3530649" cy="1992362"/>
          </a:xfrm>
          <a:prstGeom prst="roundRect">
            <a:avLst>
              <a:gd name="adj" fmla="val 57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51750" y="4031902"/>
            <a:ext cx="3530500" cy="1992362"/>
          </a:xfrm>
          <a:prstGeom prst="roundRect">
            <a:avLst>
              <a:gd name="adj" fmla="val 57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153840"/>
            <a:ext cx="3048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725" y="2153840"/>
            <a:ext cx="3048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875" y="2260401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4443263"/>
            <a:ext cx="2667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8725" y="4336702"/>
            <a:ext cx="238125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875" y="4336702"/>
            <a:ext cx="333375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144125" y="700980"/>
            <a:ext cx="14001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Ikhtisar Perkuliahan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81000"/>
            <a:ext cx="5119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PETA KURIKULUM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00075"/>
            <a:ext cx="5119687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Struktur Pembelajaran 6 Modul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2601515"/>
            <a:ext cx="381781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Modul 1: Pengenalan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2925365"/>
            <a:ext cx="31495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Arsitektur platform, ART Runtime, AVD Emulator, JDK, dan Struktur Folder Android Studio.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8725" y="2601515"/>
            <a:ext cx="381799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Modul 2: Komponen Dasar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8725" y="2925365"/>
            <a:ext cx="3149649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Activity Life Cycle, Intent Explicit &amp; Implicit, Fragment, dan Transfer Data Bundle.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9875" y="2708076"/>
            <a:ext cx="381781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Modul 3: UI/UX &amp; Layout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9875" y="3031926"/>
            <a:ext cx="31495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View &amp; ViewGroup, Layouts, Custom Input Controls, Alert Dialog, dan RecyclerView.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4890938"/>
            <a:ext cx="381781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Modul 4: Background 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5214788"/>
            <a:ext cx="31495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AlarmManager, JobScheduler, Notification Channel, dan PendingIntent.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8725" y="4784377"/>
            <a:ext cx="381799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Modul 5: Storage Lokal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8725" y="5108227"/>
            <a:ext cx="3149649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Shared Preferences untuk key-value dan SQLite Database dengan SQLiteOpenHelper.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9875" y="4784377"/>
            <a:ext cx="381781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Modul 6: Storage Cloud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9875" y="5108227"/>
            <a:ext cx="31495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Firebase Realtime Database NoSQL, struktur data JSON, dan Operasi CRUD Realtime.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44175" y="643830"/>
            <a:ext cx="1038225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40397"/>
            <a:ext cx="3505200" cy="1992362"/>
          </a:xfrm>
          <a:prstGeom prst="roundRect">
            <a:avLst>
              <a:gd name="adj" fmla="val 57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940397"/>
            <a:ext cx="3505200" cy="1992362"/>
          </a:xfrm>
          <a:prstGeom prst="roundRect">
            <a:avLst>
              <a:gd name="adj" fmla="val 57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940397"/>
            <a:ext cx="3505200" cy="1992362"/>
          </a:xfrm>
          <a:prstGeom prst="roundRect">
            <a:avLst>
              <a:gd name="adj" fmla="val 57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245197"/>
            <a:ext cx="2000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245197"/>
            <a:ext cx="23812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245197"/>
            <a:ext cx="333375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77525" y="700980"/>
            <a:ext cx="8667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Pengenalan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81000"/>
            <a:ext cx="5476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1 • PENGENALAN MOBILE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0075"/>
            <a:ext cx="5476875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Konsep Dasar Ekosistem Android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692872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Sistem Operasi Open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016722"/>
            <a:ext cx="31242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Sistem operasi berbasis kernel Linux dengan antarmuka layar sentuh. Menguasai 72,92% pangsa pasar global.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525" y="3692872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Interaksi &amp; Sensor Kaya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4016722"/>
            <a:ext cx="31242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Mendukung gerakan tap, swipe, pinch, keyboard virtual, periferal USB/Bluetooth, dan beragam sensor.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5325" y="3692872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Open Handset Alliance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4016722"/>
            <a:ext cx="31242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Produk kolaborasi Google bersama pabrikan perangkat, operator seluler, dan penyedia komponen global.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658475" y="643830"/>
            <a:ext cx="923925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65052"/>
            <a:ext cx="10972800" cy="457200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136552"/>
            <a:ext cx="10972800" cy="457200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708052"/>
            <a:ext cx="10972800" cy="457200"/>
          </a:xfrm>
          <a:prstGeom prst="roundRect">
            <a:avLst>
              <a:gd name="adj" fmla="val 12500"/>
            </a:avLst>
          </a:prstGeom>
          <a:solidFill>
            <a:srgbClr val="FEF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279552"/>
            <a:ext cx="10972800" cy="457200"/>
          </a:xfrm>
          <a:prstGeom prst="roundRect">
            <a:avLst>
              <a:gd name="adj" fmla="val 12500"/>
            </a:avLst>
          </a:prstGeom>
          <a:solidFill>
            <a:srgbClr val="FA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851052"/>
            <a:ext cx="10972800" cy="457200"/>
          </a:xfrm>
          <a:prstGeom prst="roundRect">
            <a:avLst>
              <a:gd name="adj" fmla="val 12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565052"/>
            <a:ext cx="57150" cy="4572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3136552"/>
            <a:ext cx="57150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3708052"/>
            <a:ext cx="57150" cy="45720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4279552"/>
            <a:ext cx="57150" cy="457200"/>
          </a:xfrm>
          <a:prstGeom prst="rect">
            <a:avLst/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51052"/>
            <a:ext cx="57150" cy="4572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91825" y="700980"/>
            <a:ext cx="7524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Arsitektur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81000"/>
            <a:ext cx="55602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1 • ARSITEKTUR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00075"/>
            <a:ext cx="5560218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6 Lapisan Software Stack Android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2698402"/>
            <a:ext cx="14406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Inter"/>
              </a:rPr>
              <a:t>1. System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9175" y="2703165"/>
            <a:ext cx="34409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Inter"/>
              </a:rPr>
              <a:t>Dialer, Email, Calendar, Camera, Browser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3269902"/>
            <a:ext cx="21550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5803D"/>
                </a:solidFill>
                <a:latin typeface="Inter"/>
              </a:rPr>
              <a:t>2. Java API Framework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0" y="3274665"/>
            <a:ext cx="5619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Inter"/>
              </a:rPr>
              <a:t>Activity Manager, Content Provider, View System, Notification 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3841402"/>
            <a:ext cx="3000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A16207"/>
                </a:solidFill>
                <a:latin typeface="Inter"/>
              </a:rPr>
              <a:t>3. Native C/C++ Libraries &amp; 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846165"/>
            <a:ext cx="55626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Inter"/>
              </a:rPr>
              <a:t>OpenGL ES, Webkit, Media Framework, Android Runtime (ART / Dalvik)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50" y="4412902"/>
            <a:ext cx="34647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A21CAF"/>
                </a:solidFill>
                <a:latin typeface="Inter"/>
              </a:rPr>
              <a:t>4. Hardware Abstraction Layer (HAL)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1775" y="4417665"/>
            <a:ext cx="56102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Inter"/>
              </a:rPr>
              <a:t>Antarmuka standar pustaka perangkat keras (Camera, Bluetooth, Audio)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" y="4984402"/>
            <a:ext cx="14001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2410C"/>
                </a:solidFill>
                <a:latin typeface="Inter"/>
              </a:rPr>
              <a:t>5. Linux Kernel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3625" y="4989165"/>
            <a:ext cx="6048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Inter"/>
              </a:rPr>
              <a:t>Manajemen memori low-level, driver perangkat, thread, dan keamanan sistem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677525" y="643830"/>
            <a:ext cx="904875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31727"/>
            <a:ext cx="10972800" cy="26098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2631727"/>
          <a:ext cx="10963273" cy="26098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146226"/>
                <a:gridCol w="1479053"/>
                <a:gridCol w="6337994"/>
              </a:tblGrid>
              <a:tr h="43497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Inter"/>
                        </a:rPr>
                        <a:t>Nama Versi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Inter"/>
                        </a:rPr>
                        <a:t>API Level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Inter"/>
                        </a:rPr>
                        <a:t>Fitur Kunci &amp; Perubahan Utama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Android 2.3 (Gingerbread)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Inter"/>
                        </a:rPr>
                        <a:t>API 9 / 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Inter"/>
                        </a:rPr>
                        <a:t>Dukungan awal komponen Fragment eksternal.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Android 4.4 (KitKat)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Inter"/>
                        </a:rPr>
                        <a:t>API 19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Inter"/>
                        </a:rPr>
                        <a:t>Batas minimal efisiensi AlarmManager sistem.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Android 5.0 (Lollipop)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Inter"/>
                        </a:rPr>
                        <a:t>API 21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Inter"/>
                        </a:rPr>
                        <a:t>Pengenalan ART Runtime pengganti Dalvik &amp; JobScheduler.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Android 8.0 (Oreo)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Inter"/>
                        </a:rPr>
                        <a:t>API 26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Inter"/>
                        </a:rPr>
                        <a:t>Wajib Notification Channel &amp; Notification Dots.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Android 11.0 (R)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Inter"/>
                        </a:rPr>
                        <a:t>API 30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Inter"/>
                        </a:rPr>
                        <a:t>Peningkatan privasi storage &amp; izin kontrol lokasi.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810875" y="700980"/>
            <a:ext cx="7334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Versi 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81000"/>
            <a:ext cx="5453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1 • EVOLUSI SISTEM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00075"/>
            <a:ext cx="5453062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Evolusi Versi Android &amp; API Level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06075" y="643830"/>
            <a:ext cx="1076325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40397"/>
            <a:ext cx="3505200" cy="1992362"/>
          </a:xfrm>
          <a:prstGeom prst="roundRect">
            <a:avLst>
              <a:gd name="adj" fmla="val 57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940397"/>
            <a:ext cx="3505200" cy="1992362"/>
          </a:xfrm>
          <a:prstGeom prst="roundRect">
            <a:avLst>
              <a:gd name="adj" fmla="val 57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940397"/>
            <a:ext cx="3505200" cy="1992362"/>
          </a:xfrm>
          <a:prstGeom prst="roundRect">
            <a:avLst>
              <a:gd name="adj" fmla="val 57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245197"/>
            <a:ext cx="2000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245197"/>
            <a:ext cx="33337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245197"/>
            <a:ext cx="333375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39425" y="700980"/>
            <a:ext cx="9048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Tools Utama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81000"/>
            <a:ext cx="503634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1 • TOOLCHAIN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0075"/>
            <a:ext cx="5036343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Perangkat Lunak Pengembang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692872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JDK (Java Development Kit)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016722"/>
            <a:ext cx="31242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Perangkat kompilasi bahasa Java dari Oracle. Modul ini merekomendasikan penggunaan JDK 8 atau JDK 15.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525" y="3692872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Android Studio 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4016722"/>
            <a:ext cx="31242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IDE resmi berbasis IntelliJ IDEA. Menyediakan Layout Editor, Gradle Build System, Debugger, dan Profiler.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5325" y="3692872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Android SDK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4016722"/>
            <a:ext cx="31242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Kumpulan library, emulator image, platform-tools (ADB), dan debugger untuk pengembangan aplikasi.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25100" y="643830"/>
            <a:ext cx="1257300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901701"/>
            <a:ext cx="190500" cy="180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533923"/>
            <a:ext cx="171450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26234"/>
            <a:ext cx="133350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558456"/>
            <a:ext cx="219075" cy="180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58450" y="700980"/>
            <a:ext cx="10858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Struktur Folder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81000"/>
            <a:ext cx="51554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1 • ANATOMI PROYEK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00075"/>
            <a:ext cx="5155406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Struktur Folder Project Android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2868364"/>
            <a:ext cx="107442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manifests / AndroidManifest.xml: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Deskripsi konfigurasi utama aplikasi, pendaftaran Activity, izin akses (permissions), dan intent-filter.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00586"/>
            <a:ext cx="10608468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java / package_name: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Berisi seluruh berkas kode program Java (Activity, Adapter, Model, Helper Class).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892897"/>
            <a:ext cx="108013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res / (Resources):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Direktori sumber daya non-kode seperti `layout` (XML), `drawable` (gambar/ikon), `mipmap` (ikon aplikasi), dan `values` (strings, colors, style).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4525119"/>
            <a:ext cx="1071562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Gradle Scripts / build.gradle: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Berkas konfigurasi otomatisasi build. Terdiri dari level Project dan level Module (App) untuk mengatur dependency library.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15625" y="643830"/>
            <a:ext cx="866775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40397"/>
            <a:ext cx="3505200" cy="1992362"/>
          </a:xfrm>
          <a:prstGeom prst="roundRect">
            <a:avLst>
              <a:gd name="adj" fmla="val 57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940397"/>
            <a:ext cx="3505200" cy="1992362"/>
          </a:xfrm>
          <a:prstGeom prst="roundRect">
            <a:avLst>
              <a:gd name="adj" fmla="val 57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940397"/>
            <a:ext cx="3505200" cy="1992362"/>
          </a:xfrm>
          <a:prstGeom prst="roundRect">
            <a:avLst>
              <a:gd name="adj" fmla="val 57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245197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245197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245197"/>
            <a:ext cx="238125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48975" y="700980"/>
            <a:ext cx="6953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Publikasi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81000"/>
            <a:ext cx="491728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1 • RILIS APLIKASI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0075"/>
            <a:ext cx="4917281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Siklus &amp; Publikasi APK Signed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692872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Keystore &amp; Signed APK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016722"/>
            <a:ext cx="31242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Aplikasi wajib ditandatangani digital menggunakan Keystore yang disimpan aman untuk proses pembaruan versi.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525" y="3692872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Google Play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4016722"/>
            <a:ext cx="31242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Pendaftaran akun developer ($25 USD), pengunggahan APK, deskripsi, tangkapan layar, dan kategorisasi.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5325" y="3692872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Distribusi Alternatif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4016722"/>
            <a:ext cx="31242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Pengiriman langsung APK melalui situs web internal atau lampiran email untuk kebutuhan pengujian khusus.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20400" y="643830"/>
            <a:ext cx="762000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901701"/>
            <a:ext cx="171450" cy="180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533923"/>
            <a:ext cx="219075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166145"/>
            <a:ext cx="190500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558456"/>
            <a:ext cx="190500" cy="180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53750" y="700980"/>
            <a:ext cx="5905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81000"/>
            <a:ext cx="3786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2 • KOMPONEN DASAR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00075"/>
            <a:ext cx="3786187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Konsep Utama Activity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68364"/>
            <a:ext cx="107632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Komponen Antarmuka Utama: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Activity merepresentasikan satu layar pengguna tempat UI ditampilkan dan tempat interaksi dilakukan.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500586"/>
            <a:ext cx="1071562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Kelas Java &amp; Pasangan XML: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Setiap Activity merupakan kelas Java yang meng-extends `AppCompatActivity` dan meng-inflate layout XML.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4132808"/>
            <a:ext cx="1125855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Mekanisme Tumpukan LIFO: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Berjalan di atas Dalvik / ART Runtime dalam struktur tumpukan (stack) berprinsip Last-In, First-Out.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4525119"/>
            <a:ext cx="107442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Wajib Terdaftar di Manifest: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Seluruh Activity harus didaftarkan di `AndroidManifest.xml` sebagai sub-aplikasi agar dapat dipanggil sistem.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677525" y="643830"/>
            <a:ext cx="904875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03140"/>
            <a:ext cx="5410200" cy="9144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2503140"/>
            <a:ext cx="5410200" cy="9144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569940"/>
            <a:ext cx="5410200" cy="9144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3569940"/>
            <a:ext cx="5410200" cy="9144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636740"/>
            <a:ext cx="5410200" cy="733425"/>
          </a:xfrm>
          <a:prstGeom prst="roundRect">
            <a:avLst>
              <a:gd name="adj" fmla="val 1038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4636740"/>
            <a:ext cx="5410200" cy="733425"/>
          </a:xfrm>
          <a:prstGeom prst="roundRect">
            <a:avLst>
              <a:gd name="adj" fmla="val 1038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10875" y="700980"/>
            <a:ext cx="7334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Life 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81000"/>
            <a:ext cx="6596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2 • DAUR HIDUP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0075"/>
            <a:ext cx="6596062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Daur Hidup Activity (Activity Life Cycle)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655540"/>
            <a:ext cx="5124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onCreate()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2700" y="2655540"/>
            <a:ext cx="5124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onStart()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3722340"/>
            <a:ext cx="5124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onResume()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2700" y="3722340"/>
            <a:ext cx="5124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onPause()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4789140"/>
            <a:ext cx="5124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onStop()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2700" y="4789140"/>
            <a:ext cx="5124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onDestroy()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2893665"/>
            <a:ext cx="51054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Dipanggil saat Activity pertama diciptakan. Inisialisasi tampilan &amp; bind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2225" y="2893665"/>
            <a:ext cx="58197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Activity mulai terlihat oleh pengguna di layar device.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3960465"/>
            <a:ext cx="51054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Activity berada di foreground dan siap menerima input interaksi pengguna.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2225" y="3960465"/>
            <a:ext cx="58197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Activity tertutup sebagian oleh Activity lain. Simpan data sementara.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5027265"/>
            <a:ext cx="6262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Activity tidak lagi terlihat sepenuhnya oleh pengguna.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2225" y="5027265"/>
            <a:ext cx="58197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Panggilan terakhir sebelum Activity dihancurkan total dari memori.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496550" y="643830"/>
            <a:ext cx="1085850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050702"/>
            <a:ext cx="10972800" cy="209550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050702"/>
            <a:ext cx="38100" cy="20955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298602"/>
            <a:ext cx="10972800" cy="1524000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29900" y="700980"/>
            <a:ext cx="9144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Sintaks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241202"/>
            <a:ext cx="1061085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F8FAFC"/>
                </a:solidFill>
                <a:latin typeface="Inter"/>
              </a:rPr>
              <a:t>public class MainActivity extends AppCompatActivity { @Override protected void onCreate(Bundle savedInstanceState) { super.onCreate(savedInstanceState); // Hubungkan Activity Java dengan Layout XML setContentView(R.layout.activity_main); }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4451002"/>
            <a:ext cx="1068705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Inter"/>
              </a:rPr>
              <a:t>Pendaftaran pada AndroidManifest.xml: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81000"/>
            <a:ext cx="51315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2 • KODE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00075"/>
            <a:ext cx="5131593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Langkah Implementasi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241202"/>
            <a:ext cx="1057275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F8FAFC"/>
                </a:solidFill>
                <a:latin typeface="JetBrains Mono"/>
              </a:rPr>
              <a:t>public class MainActivity extends AppCompatActivity { @Override protected void onCreate(Bundle savedInstanceState) { super.onCreate(savedInstanceState); // Hubungkan Activity Java dengan Layout XML setContentView(R.layout.activity_main); }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34700" y="643830"/>
            <a:ext cx="647700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06588"/>
            <a:ext cx="5372100" cy="2460128"/>
          </a:xfrm>
          <a:prstGeom prst="roundRect">
            <a:avLst>
              <a:gd name="adj" fmla="val 46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613719"/>
            <a:ext cx="5372100" cy="2645866"/>
          </a:xfrm>
          <a:prstGeom prst="roundRect">
            <a:avLst>
              <a:gd name="adj" fmla="val 43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4323754"/>
            <a:ext cx="4895850" cy="566737"/>
          </a:xfrm>
          <a:prstGeom prst="roundRect">
            <a:avLst>
              <a:gd name="adj" fmla="val 1680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7725" y="4323754"/>
            <a:ext cx="38100" cy="566737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8425" y="4230885"/>
            <a:ext cx="4895850" cy="752475"/>
          </a:xfrm>
          <a:prstGeom prst="roundRect">
            <a:avLst>
              <a:gd name="adj" fmla="val 1265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48425" y="4230885"/>
            <a:ext cx="38100" cy="7524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011388"/>
            <a:ext cx="333375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918519"/>
            <a:ext cx="3048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68050" y="700980"/>
            <a:ext cx="476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81000"/>
            <a:ext cx="4191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2 • KOMUNIKASI COMPONENT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00075"/>
            <a:ext cx="4191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Intent: Explicit vs Implicit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459063"/>
            <a:ext cx="61198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Explicit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782913"/>
            <a:ext cx="49911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Memanggil komponen/class spesifik dari dalam aplikasi sendiri secara langsung.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514254"/>
            <a:ext cx="45339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AFC"/>
                </a:solidFill>
                <a:latin typeface="Inter"/>
              </a:rPr>
              <a:t>Intent move = new Intent(this, TargetActivity.class); startActivity(move);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3366194"/>
            <a:ext cx="5743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Implicit Intent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425" y="3690044"/>
            <a:ext cx="49911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Meminta sistem Android menemukan handler aplikasi eksternal sesuai aksi URI.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7025" y="4421385"/>
            <a:ext cx="45339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AFC"/>
                </a:solidFill>
                <a:latin typeface="Inter"/>
              </a:rPr>
              <a:t>Intent dial = new Intent(Intent.ACTION_DIAL); dial.setData(Uri.parse("tel:08123456789")); startActivity(dial);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687050" y="643830"/>
            <a:ext cx="895350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37768"/>
            <a:ext cx="171450" cy="180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969990"/>
            <a:ext cx="219075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362301"/>
            <a:ext cx="171450" cy="180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20400" y="700980"/>
            <a:ext cx="7239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Fragment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81000"/>
            <a:ext cx="51315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2 • UI MODULAR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0075"/>
            <a:ext cx="5131593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Konsep &amp; Daur Hidup Fragment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04430"/>
            <a:ext cx="107632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Sub-Aplikasi Reusable: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Komponen antarmuka modular yang ditanamkan di dalam Activity. Satu Activity dapat memiliki banyak Fragment.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936652"/>
            <a:ext cx="112299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Keterikatan Life Cycle: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Daur hidup Fragment sangat bergantung pada daur hidup Activity tempat ia ditanamkan.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28963"/>
            <a:ext cx="112776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Tidak Perlu Registrasi Manifest: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Berbeda dengan Activity, kelas Fragment tidak perlu didaftarkan di `AndroidManifest.xml`.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96525" y="643830"/>
            <a:ext cx="1285875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29396"/>
            <a:ext cx="5372100" cy="1814512"/>
          </a:xfrm>
          <a:prstGeom prst="roundRect">
            <a:avLst>
              <a:gd name="adj" fmla="val 629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122265"/>
            <a:ext cx="537210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3629471"/>
            <a:ext cx="4895850" cy="938212"/>
          </a:xfrm>
          <a:prstGeom prst="roundRect">
            <a:avLst>
              <a:gd name="adj" fmla="val 1015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7725" y="3629471"/>
            <a:ext cx="38100" cy="93821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8425" y="3722340"/>
            <a:ext cx="4895850" cy="752475"/>
          </a:xfrm>
          <a:prstGeom prst="roundRect">
            <a:avLst>
              <a:gd name="adj" fmla="val 1265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48425" y="3722340"/>
            <a:ext cx="38100" cy="7524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9875" y="700980"/>
            <a:ext cx="11144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Extras &amp; Bundle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81000"/>
            <a:ext cx="5119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2 • TRANSFER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0075"/>
            <a:ext cx="5119687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Pengiriman Data Antar Activity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305621"/>
            <a:ext cx="61198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Mengirim Data (Pengirim)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819971"/>
            <a:ext cx="453390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AFC"/>
                </a:solidFill>
                <a:latin typeface="Inter"/>
              </a:rPr>
              <a:t>Intent intent = new Intent(this, TargetActivity.class); intent.putExtra("EXTRA_NAME", "Erma Susanti"); intent.putExtra("EXTRA_AGE", 25); startActivity(intent);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3398490"/>
            <a:ext cx="5743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Menerima Data (Penerima)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7025" y="3912840"/>
            <a:ext cx="45339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AFC"/>
                </a:solidFill>
                <a:latin typeface="Inter"/>
              </a:rPr>
              <a:t>String name = getIntent().getStringExtra("EXTRA_NAME"); int age = getIntent().getIntExtra("EXTRA_AGE", 0);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448925" y="643830"/>
            <a:ext cx="1133475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38561"/>
            <a:ext cx="5391150" cy="1302841"/>
          </a:xfrm>
          <a:prstGeom prst="roundRect">
            <a:avLst>
              <a:gd name="adj" fmla="val 87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538561"/>
            <a:ext cx="5391150" cy="1302841"/>
          </a:xfrm>
          <a:prstGeom prst="roundRect">
            <a:avLst>
              <a:gd name="adj" fmla="val 87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031902"/>
            <a:ext cx="5391150" cy="1302841"/>
          </a:xfrm>
          <a:prstGeom prst="roundRect">
            <a:avLst>
              <a:gd name="adj" fmla="val 87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1250" y="4031902"/>
            <a:ext cx="5391150" cy="1302841"/>
          </a:xfrm>
          <a:prstGeom prst="roundRect">
            <a:avLst>
              <a:gd name="adj" fmla="val 87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82275" y="700980"/>
            <a:ext cx="9620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Prinsip UI/UX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81000"/>
            <a:ext cx="4833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3 • ANTARMUKA PENGGUNA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00075"/>
            <a:ext cx="4833937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Komponen Inti UI/UX Android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814786"/>
            <a:ext cx="6143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View &amp; ViewGroup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138636"/>
            <a:ext cx="50101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View adalah widget dasar (Button, TextView). ViewGroup adalah kontainer penata tata letak (LinearLayout, RelativeLayout).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375" y="2814786"/>
            <a:ext cx="5762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Style &amp; Theme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375" y="3138636"/>
            <a:ext cx="50101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Style mengelompokkan atribut visual View. Theme menerapkan style secara global pada satu Activity atau aplikasi.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308127"/>
            <a:ext cx="6143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Localization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631977"/>
            <a:ext cx="50101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Mekanisme penyesuaian bahasa antarmuka secara otomatis berdasarkan konfigurasi sistem lokasi pengguna.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4308127"/>
            <a:ext cx="5762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Toast &amp; Popups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4631977"/>
            <a:ext cx="50101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Notifikasi umpan balik melayang berukuran kecil untuk memberikan konfirmasi operasi singkat.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658475" y="643830"/>
            <a:ext cx="923925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71961"/>
            <a:ext cx="2571750" cy="1729382"/>
          </a:xfrm>
          <a:prstGeom prst="roundRect">
            <a:avLst>
              <a:gd name="adj" fmla="val 66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9950" y="3071961"/>
            <a:ext cx="2571750" cy="1729382"/>
          </a:xfrm>
          <a:prstGeom prst="roundRect">
            <a:avLst>
              <a:gd name="adj" fmla="val 66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178522"/>
            <a:ext cx="2571750" cy="1516112"/>
          </a:xfrm>
          <a:prstGeom prst="roundRect">
            <a:avLst>
              <a:gd name="adj" fmla="val 75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10650" y="3178522"/>
            <a:ext cx="2571750" cy="1516112"/>
          </a:xfrm>
          <a:prstGeom prst="roundRect">
            <a:avLst>
              <a:gd name="adj" fmla="val 75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91825" y="700980"/>
            <a:ext cx="7524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Tata Letak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81000"/>
            <a:ext cx="4929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3 • LAYOUTS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00075"/>
            <a:ext cx="4929187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4 Jenis Layout Utama Android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348186"/>
            <a:ext cx="2619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LinearLayout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672036"/>
            <a:ext cx="2190750" cy="853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Menyusun komponen View secara sejajar vertikal atau horizontal dalam satu baris/kolom.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075" y="3348186"/>
            <a:ext cx="2619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ConstraintLayout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075" y="3672036"/>
            <a:ext cx="2190750" cy="853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Layout fleksibel berkinerja tinggi yang mengatur posisi komponen berdasarkan batasan relasi.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3454747"/>
            <a:ext cx="2619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GridLayout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3778597"/>
            <a:ext cx="219075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Menata komponen ke dalam baris dan kolom kisi berukuran terstruktur.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48775" y="3454747"/>
            <a:ext cx="2619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TableLayout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8775" y="3778597"/>
            <a:ext cx="219075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Menyusun elemen berbasis tabel mengggunakan tag elemen `TableRow`.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91775" y="643830"/>
            <a:ext cx="1190625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261568"/>
            <a:ext cx="85725" cy="180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653879"/>
            <a:ext cx="171450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046190"/>
            <a:ext cx="152400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438501"/>
            <a:ext cx="190500" cy="180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25125" y="700980"/>
            <a:ext cx="10191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Input Widgets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81000"/>
            <a:ext cx="40362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3 • KOMPONEN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00075"/>
            <a:ext cx="4036218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Komponen Input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75" y="3228230"/>
            <a:ext cx="607218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EditText: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Kontrol input teks menggunakan keyboard virtual.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20541"/>
            <a:ext cx="6393656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SeekBar: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Slider horizontal untuk memilih nilai rentang tertentu.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4012852"/>
            <a:ext cx="8941593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CheckBox &amp; RadioButton: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Pilihan majemuk (CheckBox) atau opsi tunggal (RadioGroup).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4405163"/>
            <a:ext cx="8346281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Switch &amp; Spinner: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Tombol status ON/OFF dan menu dropdown tunggal (Spinner).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20400" y="643830"/>
            <a:ext cx="762000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40397"/>
            <a:ext cx="3505200" cy="1992362"/>
          </a:xfrm>
          <a:prstGeom prst="roundRect">
            <a:avLst>
              <a:gd name="adj" fmla="val 57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940397"/>
            <a:ext cx="3505200" cy="1992362"/>
          </a:xfrm>
          <a:prstGeom prst="roundRect">
            <a:avLst>
              <a:gd name="adj" fmla="val 57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046958"/>
            <a:ext cx="3505200" cy="1779091"/>
          </a:xfrm>
          <a:prstGeom prst="roundRect">
            <a:avLst>
              <a:gd name="adj" fmla="val 64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245197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245197"/>
            <a:ext cx="23812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351758"/>
            <a:ext cx="2667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53750" y="700980"/>
            <a:ext cx="5905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Dialogs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81000"/>
            <a:ext cx="54649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3 • UMPAN BALIK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0075"/>
            <a:ext cx="5464968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Dialogs, DatePicker &amp; TimePicker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692872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AlertDialog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016722"/>
            <a:ext cx="31242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Jendela modal konfirmasi untuk meminta keputusan dari pengguna sebelum melanjutkan aksi.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525" y="3692872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DatePickerDialog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4016722"/>
            <a:ext cx="31242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Antarmuka dialog standar memilih tanggal, bulan, dan tahun secara konsisten.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5325" y="3799433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TimePickerDialog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4123283"/>
            <a:ext cx="31242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Antarmuka dialog khusus untuk memilih waktu jam dan menit.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429875" y="643830"/>
            <a:ext cx="1152525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549997"/>
            <a:ext cx="3505200" cy="1516112"/>
          </a:xfrm>
          <a:prstGeom prst="roundRect">
            <a:avLst>
              <a:gd name="adj" fmla="val 75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549997"/>
            <a:ext cx="3505200" cy="1516112"/>
          </a:xfrm>
          <a:prstGeom prst="roundRect">
            <a:avLst>
              <a:gd name="adj" fmla="val 75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549997"/>
            <a:ext cx="3505200" cy="1516112"/>
          </a:xfrm>
          <a:prstGeom prst="roundRect">
            <a:avLst>
              <a:gd name="adj" fmla="val 75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3225" y="700980"/>
            <a:ext cx="9810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RecyclerView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07047"/>
            <a:ext cx="110680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Komponen canggih pengganti </a:t>
            </a:r>
            <a:r>
              <a:rPr b="1" sz="1350" i="0" u="none">
                <a:solidFill>
                  <a:srgbClr val="334155"/>
                </a:solidFill>
                <a:latin typeface="Inter"/>
              </a:rPr>
              <a:t>ListView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yang lebih efisien dalam mengelola memori dengan mendaur ulang (recycle) elemen item yang keluar dari layar.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81000"/>
            <a:ext cx="46791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3 • PENGOLAHAN DAFTAR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00075"/>
            <a:ext cx="4679156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Konsep Dasar RecyclerView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826222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1. Adapter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150072"/>
            <a:ext cx="31242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Penghubung kumpulan data dengan tampilan ViewHolder (`RecyclerView.Adapter`).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826222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2. ViewHolder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4150072"/>
            <a:ext cx="31242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Menyimpan referensi komponen View untuk setiap item daftar (`RecyclerView.ViewHolder`).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3826222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3. LayoutManager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4150072"/>
            <a:ext cx="31242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Mengatur susunan item (LinearLayoutManager, GridLayoutManager).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429875" y="643830"/>
            <a:ext cx="1152525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981646"/>
            <a:ext cx="10972800" cy="3910012"/>
          </a:xfrm>
          <a:prstGeom prst="roundRect">
            <a:avLst>
              <a:gd name="adj" fmla="val 243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981646"/>
            <a:ext cx="38100" cy="391001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63225" y="700980"/>
            <a:ext cx="9810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Kode Adapter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172146"/>
            <a:ext cx="10610850" cy="3529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AFC"/>
                </a:solidFill>
                <a:latin typeface="Inter"/>
              </a:rPr>
              <a:t>public class ListBookAdapter extends RecyclerView.Adapter { private ArrayList listBook; public ListBookAdapter(ArrayList list) { this.listBook = list; } @Override public ListViewHolder onCreateViewHolder(ViewGroup parent, int viewType) { View view = LayoutInflater.from(parent.getContext()).inflate(R.layout.item_list_book, parent, false); return new ListViewHolder(view); } @Override public void onBindViewHolder(ListViewHolder holder, int position) { Book book = listBook.get(position); holder.tvTitle.setText(book.getTitle()); } @Override public int getItemCount() { return listBook.size(); }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81000"/>
            <a:ext cx="606028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3 • IMPLEMENTASI KODE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0075"/>
            <a:ext cx="6060281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Implementasi RecyclerView Adapter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172146"/>
            <a:ext cx="10572750" cy="3529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AFC"/>
                </a:solidFill>
                <a:latin typeface="JetBrains Mono"/>
              </a:rPr>
              <a:t>public class ListBookAdapter extends RecyclerView.Adapter { private ArrayList listBook; public ListBookAdapter(ArrayList list) { this.listBook = list; } @Override public ListViewHolder onCreateViewHolder(ViewGroup parent, int viewType) { View view = LayoutInflater.from(parent.getContext()).inflate(R.layout.item_list_book, parent, false); return new ListViewHolder(view); } @Override public void onBindViewHolder(ListViewHolder holder, int position) { Book book = listBook.get(position); holder.tvTitle.setText(book.getTitle()); } @Override public int getItemCount() { return listBook.size(); } 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82225" y="643830"/>
            <a:ext cx="1400175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47107"/>
            <a:ext cx="3505200" cy="1779091"/>
          </a:xfrm>
          <a:prstGeom prst="roundRect">
            <a:avLst>
              <a:gd name="adj" fmla="val 64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047107"/>
            <a:ext cx="3505200" cy="1779091"/>
          </a:xfrm>
          <a:prstGeom prst="roundRect">
            <a:avLst>
              <a:gd name="adj" fmla="val 64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047107"/>
            <a:ext cx="3505200" cy="1779091"/>
          </a:xfrm>
          <a:prstGeom prst="roundRect">
            <a:avLst>
              <a:gd name="adj" fmla="val 64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351907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351907"/>
            <a:ext cx="33337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351907"/>
            <a:ext cx="2667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15575" y="700980"/>
            <a:ext cx="12287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Background 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81000"/>
            <a:ext cx="48815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4 • TUGAS LATAR BELAKANG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0075"/>
            <a:ext cx="4881562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Pengenalan Background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799582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AlarmManager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123432"/>
            <a:ext cx="31242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Penjadwalan tugas lokal tepat berdasarkan waktu aktual sistem.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525" y="3799582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JobScheduler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4123432"/>
            <a:ext cx="31242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Penjadwalan efisien berdasarkan kriteria perangkat (koneksi, pengisian daya).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5325" y="3799582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Notification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4123432"/>
            <a:ext cx="31242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Pesan sistem melayang di status bar luar antarmuka utama aplikasi.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44150" y="643830"/>
            <a:ext cx="1238250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57723"/>
            <a:ext cx="171450" cy="180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850034"/>
            <a:ext cx="171450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242345"/>
            <a:ext cx="190500" cy="180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477500" y="700980"/>
            <a:ext cx="1066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AlarmManager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81000"/>
            <a:ext cx="4691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4 • PENJADWALAN WAKTU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0075"/>
            <a:ext cx="4691062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Karakteristik AlarmManager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4386"/>
            <a:ext cx="10691812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Berjalan Luar Life Cycle: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Mampu mengeksekusi Intent jadwal meskipun aplikasi sedang ditutup atau idle.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16697"/>
            <a:ext cx="1083468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Risiko Reboot: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Seluruh jadwal AlarmManager otomatis terhapus saat perangkat dinyalakan ulang (restart).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" y="4209008"/>
            <a:ext cx="10179843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Efisiensi Baterai: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Gunakan `setInexactRepeating()` untuk mengelompokkan jadwal bersama sistem.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401300" y="643830"/>
            <a:ext cx="1181100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285232"/>
            <a:ext cx="3505200" cy="1302841"/>
          </a:xfrm>
          <a:prstGeom prst="roundRect">
            <a:avLst>
              <a:gd name="adj" fmla="val 87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285232"/>
            <a:ext cx="3505200" cy="1302841"/>
          </a:xfrm>
          <a:prstGeom prst="roundRect">
            <a:avLst>
              <a:gd name="adj" fmla="val 87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285232"/>
            <a:ext cx="3505200" cy="1302841"/>
          </a:xfrm>
          <a:prstGeom prst="roundRect">
            <a:avLst>
              <a:gd name="adj" fmla="val 87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34650" y="700980"/>
            <a:ext cx="10096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JobScheduler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81000"/>
            <a:ext cx="52506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4 • PENJADWALAN KONDISI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0075"/>
            <a:ext cx="5250656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Mekanisme Kerja JobScheduler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561457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1. JobInfo.Builder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885307"/>
            <a:ext cx="31242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Mendefinisikan kriteria eksekusi tugas (persyaratan WiFi, charging status).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561457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2. JobService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885307"/>
            <a:ext cx="31242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Menampung logika tugas pada callback `onStartJob()` dan `onStopJob()`.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5325" y="3561457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3. Kestabilan Reboot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3885307"/>
            <a:ext cx="31242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Tugas terjadwal tetap dipertahankan meskipun perangkat dinyalakan ulang.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439400" y="643830"/>
            <a:ext cx="1143000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07965"/>
            <a:ext cx="10972800" cy="2238375"/>
          </a:xfrm>
          <a:prstGeom prst="roundRect">
            <a:avLst>
              <a:gd name="adj" fmla="val 425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007965"/>
            <a:ext cx="38100" cy="22383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72750" y="700980"/>
            <a:ext cx="9715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Android 8.0+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26965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Sejak API Level 26, seluruh notifikasi wajib dikelompokkan ke dalam </a:t>
            </a:r>
            <a:r>
              <a:rPr b="1" sz="1275" i="0" u="none">
                <a:solidFill>
                  <a:srgbClr val="334155"/>
                </a:solidFill>
                <a:latin typeface="Inter"/>
              </a:rPr>
              <a:t>Notification Channel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terdaftar agar tidak diblokir sistem.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198465"/>
            <a:ext cx="10610850" cy="1857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AFC"/>
                </a:solidFill>
                <a:latin typeface="Inter"/>
              </a:rPr>
              <a:t>if (Build.VERSION.SDK_INT &gt;= Build.VERSION_CODES.O) { NotificationChannel channel = new NotificationChannel( "PRIMARY_CHANNEL_ID", "Mascot Notification", NotificationManager.IMPORTANCE_HIGH ); channel.enableLights(true); channel.setLightColor(Color.RED); mNotifyManager.createNotificationChannel(channel);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81000"/>
            <a:ext cx="503634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4 • PEMBERITAHUAN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00075"/>
            <a:ext cx="5036343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Notification Channel (API 26+)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198465"/>
            <a:ext cx="10572750" cy="1857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AFC"/>
                </a:solidFill>
                <a:latin typeface="JetBrains Mono"/>
              </a:rPr>
              <a:t>if (Build.VERSION.SDK_INT &gt;= Build.VERSION_CODES.O) { NotificationChannel channel = new NotificationChannel( "PRIMARY_CHANNEL_ID", "Mascot Notification", NotificationManager.IMPORTANCE_HIGH ); channel.enableLights(true); channel.setLightColor(Color.RED); mNotifyManager.createNotificationChannel(channel); 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020300" y="643830"/>
            <a:ext cx="1562100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38858"/>
            <a:ext cx="10972800" cy="2795587"/>
          </a:xfrm>
          <a:prstGeom prst="roundRect">
            <a:avLst>
              <a:gd name="adj" fmla="val 340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538858"/>
            <a:ext cx="38100" cy="2795587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53650" y="700980"/>
            <a:ext cx="13906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NotificationCompat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729358"/>
            <a:ext cx="10610850" cy="2414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AFC"/>
                </a:solidFill>
                <a:latin typeface="Inter"/>
              </a:rPr>
              <a:t>Intent intent = new Intent(this, MainActivity.class); PendingIntent pendingIntent = PendingIntent.getActivity( this, NOTIFICATION_ID, intent, PendingIntent.FLAG_UPDATE_CURRENT ); NotificationCompat.Builder builder = new NotificationCompat.Builder(this, "PRIMARY_CHANNEL_ID") .setContentTitle("You have been notified!") .setContentText("This is your notification text.") .setSmallIcon(R.drawable.ic_android) .setContentIntent(pendingIntent) .setAutoCancel(true); notificationManager.notify(NOTIFICATION_ID, builder.build());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81000"/>
            <a:ext cx="51792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4 • KODE NOTIFIKASI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0075"/>
            <a:ext cx="5179218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Membuat &amp; Mengirim Notifikasi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729358"/>
            <a:ext cx="10572750" cy="2414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AFC"/>
                </a:solidFill>
                <a:latin typeface="JetBrains Mono"/>
              </a:rPr>
              <a:t>Intent intent = new Intent(this, MainActivity.class); PendingIntent pendingIntent = PendingIntent.getActivity( this, NOTIFICATION_ID, intent, PendingIntent.FLAG_UPDATE_CURRENT ); NotificationCompat.Builder builder = new NotificationCompat.Builder(this, "PRIMARY_CHANNEL_ID") .setContentTitle("You have been notified!") .setContentText("This is your notification text.") .setSmallIcon(R.drawable.ic_android) .setContentIntent(pendingIntent) .setAutoCancel(true); notificationManager.notify(NOTIFICATION_ID, builder.build());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458450" y="643830"/>
            <a:ext cx="1123950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38561"/>
            <a:ext cx="5391150" cy="1302841"/>
          </a:xfrm>
          <a:prstGeom prst="roundRect">
            <a:avLst>
              <a:gd name="adj" fmla="val 87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538561"/>
            <a:ext cx="5391150" cy="1302841"/>
          </a:xfrm>
          <a:prstGeom prst="roundRect">
            <a:avLst>
              <a:gd name="adj" fmla="val 87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031902"/>
            <a:ext cx="5391150" cy="1302841"/>
          </a:xfrm>
          <a:prstGeom prst="roundRect">
            <a:avLst>
              <a:gd name="adj" fmla="val 87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1250" y="4031902"/>
            <a:ext cx="5391150" cy="1302841"/>
          </a:xfrm>
          <a:prstGeom prst="roundRect">
            <a:avLst>
              <a:gd name="adj" fmla="val 87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91800" y="700980"/>
            <a:ext cx="9525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Storage lokal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81000"/>
            <a:ext cx="5310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5 • PENYIMPANAN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00075"/>
            <a:ext cx="5310187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Opsi Penyimpanan Data Android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814786"/>
            <a:ext cx="6143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Shared Preferences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138636"/>
            <a:ext cx="50101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Penyimpanan privat berkas XML sederhana untuk data primitif pasangan Key-Value.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375" y="2814786"/>
            <a:ext cx="5762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Internal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375" y="3138636"/>
            <a:ext cx="50101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Penyimpanan berkas privat di memori internal perangkat. Dihapus saat uninstall.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308127"/>
            <a:ext cx="6143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External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631977"/>
            <a:ext cx="50101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Penyimpanan publik SD Card. Membutuhkan izin `READ/WRITE_EXTERNAL_STORAGE`.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4308127"/>
            <a:ext cx="5762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SQLite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4631977"/>
            <a:ext cx="50101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Database relasional lokal terstruktur untuk data kompleks berukuran besar.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048875" y="643830"/>
            <a:ext cx="1533525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36527"/>
            <a:ext cx="5372100" cy="200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029396"/>
            <a:ext cx="5372100" cy="1814512"/>
          </a:xfrm>
          <a:prstGeom prst="roundRect">
            <a:avLst>
              <a:gd name="adj" fmla="val 629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3536602"/>
            <a:ext cx="4895850" cy="1123950"/>
          </a:xfrm>
          <a:prstGeom prst="roundRect">
            <a:avLst>
              <a:gd name="adj" fmla="val 847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7725" y="3536602"/>
            <a:ext cx="38100" cy="11239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8425" y="3629471"/>
            <a:ext cx="4895850" cy="938212"/>
          </a:xfrm>
          <a:prstGeom prst="roundRect">
            <a:avLst>
              <a:gd name="adj" fmla="val 1015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48425" y="3629471"/>
            <a:ext cx="38100" cy="93821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82225" y="700980"/>
            <a:ext cx="13620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SharedPreferences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81000"/>
            <a:ext cx="5238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5 • KEY-VALUE 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0075"/>
            <a:ext cx="523875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Mekanisme Shared Preferences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212752"/>
            <a:ext cx="61198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Menyimpan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727102"/>
            <a:ext cx="453390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AFC"/>
                </a:solidFill>
                <a:latin typeface="Inter"/>
              </a:rPr>
              <a:t>SharedPreferences pref = getSharedPreferences("FILE_NAME", MODE_PRIVATE); SharedPreferences.Editor editor = pref.edit(); editor.putString("name", "Erma"); editor.putInt("age", 25); editor.apply(); // Asynchronous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3305621"/>
            <a:ext cx="5743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Membaca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7025" y="3819971"/>
            <a:ext cx="453390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AFC"/>
                </a:solidFill>
                <a:latin typeface="Inter"/>
              </a:rPr>
              <a:t>SharedPreferences pref = getSharedPreferences("FILE_NAME", MODE_PRIVATE); String name = pref.getString("name", ""); int age = pref.getInt("age", 0);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7075" y="643830"/>
            <a:ext cx="695325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57723"/>
            <a:ext cx="152400" cy="180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850034"/>
            <a:ext cx="171450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242345"/>
            <a:ext cx="171450" cy="180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20425" y="700980"/>
            <a:ext cx="5238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81000"/>
            <a:ext cx="45005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5 • RELATIONAL 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0075"/>
            <a:ext cx="4500562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Arsitektur SQLite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3424386"/>
            <a:ext cx="1129665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SQLiteOpenHelper: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Kelas abstrak pembantu pembuat dan pengelola versi database (`onCreate`, `onUpgrade`).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16697"/>
            <a:ext cx="112776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SQLiteDatabase: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Kelas utama penyedia metode eksekusi SQL (`rawQuery`, `execSQL`, `insert`, `update`, `delete`).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9008"/>
            <a:ext cx="9679781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Cursor: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Penunjuk hasil pencarian data SQL yang dapat digeser (`moveToFirst`, `moveToNext`).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496550" y="643830"/>
            <a:ext cx="1085850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074515"/>
            <a:ext cx="10972800" cy="3724275"/>
          </a:xfrm>
          <a:prstGeom prst="roundRect">
            <a:avLst>
              <a:gd name="adj" fmla="val 255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074515"/>
            <a:ext cx="38100" cy="37242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29900" y="700980"/>
            <a:ext cx="9144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Helper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265015"/>
            <a:ext cx="10610850" cy="3343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AFC"/>
                </a:solidFill>
                <a:latin typeface="Inter"/>
              </a:rPr>
              <a:t>public class DataHelper extends SQLiteOpenHelper { private static final String DATABASE_NAME = "bio_data.db"; private static final int DATABASE_VERSION = 1; public DataHelper(Context context) { super(context, DATABASE_NAME, null, DATABASE_VERSION); } @Override public void onCreate(SQLiteDatabase db) { String sql = "create table biodata(no integer primary key autoincrement, " + "name text null, birthdate text null, gender text null, address text null);"; db.execSQL(sql); } @Override public void onUpgrade(SQLiteDatabase db, int oldVer, int newVer) {}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81000"/>
            <a:ext cx="53459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5 • DATAHELPER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0075"/>
            <a:ext cx="5345906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Implementasi DataHelper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265015"/>
            <a:ext cx="10572750" cy="3343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AFC"/>
                </a:solidFill>
                <a:latin typeface="JetBrains Mono"/>
              </a:rPr>
              <a:t>public class DataHelper extends SQLiteOpenHelper { private static final String DATABASE_NAME = "bio_data.db"; private static final int DATABASE_VERSION = 1; public DataHelper(Context context) { super(context, DATABASE_NAME, null, DATABASE_VERSION); } @Override public void onCreate(SQLiteDatabase db) { String sql = "create table biodata(no integer primary key autoincrement, " + "name text null, birthdate text null, gender text null, address text null);"; db.execSQL(sql); } @Override public void onUpgrade(SQLiteDatabase db, int oldVer, int newVer) {} 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63225" y="643830"/>
            <a:ext cx="1019175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65102"/>
            <a:ext cx="5372100" cy="19431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136552"/>
            <a:ext cx="5372100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3565177"/>
            <a:ext cx="4895850" cy="1066800"/>
          </a:xfrm>
          <a:prstGeom prst="roundRect">
            <a:avLst>
              <a:gd name="adj" fmla="val 892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7725" y="3565177"/>
            <a:ext cx="38100" cy="1066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8425" y="3736627"/>
            <a:ext cx="4895850" cy="723900"/>
          </a:xfrm>
          <a:prstGeom prst="roundRect">
            <a:avLst>
              <a:gd name="adj" fmla="val 1315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48425" y="3736627"/>
            <a:ext cx="38100" cy="7239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6575" y="700980"/>
            <a:ext cx="8477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CRUD Lokal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81000"/>
            <a:ext cx="3476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5 • OPERASI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0075"/>
            <a:ext cx="3476625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Operasi CRUD SQLite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241327"/>
            <a:ext cx="61198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Create (Insert)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755677"/>
            <a:ext cx="45339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F8FAFC"/>
                </a:solidFill>
                <a:latin typeface="Inter"/>
              </a:rPr>
              <a:t>SQLiteDatabase db = dbHelper.getWritableDatabase(); db.execSQL("insert into biodata(name, birthdate, gender, address) values('" + name.getText().toString() + "','" + birthDate.getText().toString() + "','" + gender.getText().toString() + "','" + address.getText().toString() + "')");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3412777"/>
            <a:ext cx="5743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Read (Select Query)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7025" y="3927127"/>
            <a:ext cx="4533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F8FAFC"/>
                </a:solidFill>
                <a:latin typeface="Inter"/>
              </a:rPr>
              <a:t>SQLiteDatabase db = dbHelper.getReadableDatabase(); Cursor cursor = db.rawQuery("SELECT * FROM biodata", null);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53725" y="643830"/>
            <a:ext cx="828675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46958"/>
            <a:ext cx="3505200" cy="1779091"/>
          </a:xfrm>
          <a:prstGeom prst="roundRect">
            <a:avLst>
              <a:gd name="adj" fmla="val 64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940397"/>
            <a:ext cx="3505200" cy="1992362"/>
          </a:xfrm>
          <a:prstGeom prst="roundRect">
            <a:avLst>
              <a:gd name="adj" fmla="val 57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940397"/>
            <a:ext cx="3505200" cy="1992362"/>
          </a:xfrm>
          <a:prstGeom prst="roundRect">
            <a:avLst>
              <a:gd name="adj" fmla="val 57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351758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245197"/>
            <a:ext cx="20002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245197"/>
            <a:ext cx="333375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87075" y="700980"/>
            <a:ext cx="6572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Firebase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81000"/>
            <a:ext cx="4560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6 • CLOUD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0075"/>
            <a:ext cx="4560093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Firebase Realtime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799433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Realtime 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123283"/>
            <a:ext cx="31242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Sinkronisasi data antar client terhubung dalam hitungan milidetik secara otomatis.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525" y="3692872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Struktur Data 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4016722"/>
            <a:ext cx="31242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Database NoSQL berbasis dokumen pohon hirarki JSON tanpa skema tabel kaku.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5325" y="3692872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Offline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4016722"/>
            <a:ext cx="31242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Aplikasi tetap berfungsi saat offline dan melakukan sinkronisasi otomatis saat terhubung kembali.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44175" y="643830"/>
            <a:ext cx="1038225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57723"/>
            <a:ext cx="171450" cy="180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850034"/>
            <a:ext cx="133350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242345"/>
            <a:ext cx="152400" cy="180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77525" y="700980"/>
            <a:ext cx="8667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Konfigurasi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81000"/>
            <a:ext cx="58459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6 • INTEGRASI SDK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0075"/>
            <a:ext cx="5845968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Langkah Integrasi Firebase Android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4386"/>
            <a:ext cx="731043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Register App: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Daftarkan package name aplikasi pada Firebase Console.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816697"/>
            <a:ext cx="9274968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google-services.json: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Unduh berkas konfigurasi dan salin ke folder `app/` project Android.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4209008"/>
            <a:ext cx="106680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Gradle Dependencies: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Tambahkan plugin Google Services &amp; SDK Realtime Database pada `build.gradle`.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58425" y="643830"/>
            <a:ext cx="1323975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45990"/>
            <a:ext cx="10972800" cy="2981325"/>
          </a:xfrm>
          <a:prstGeom prst="roundRect">
            <a:avLst>
              <a:gd name="adj" fmla="val 319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445990"/>
            <a:ext cx="38100" cy="29813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91775" y="700980"/>
            <a:ext cx="11525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Kode Inisialisasi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636490"/>
            <a:ext cx="10610850" cy="2600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AFC"/>
                </a:solidFill>
                <a:latin typeface="Inter"/>
              </a:rPr>
              <a:t>public class MainActivity extends AppCompatActivity { private FirebaseDatabase mFirebaseDatabase; private DatabaseReference mFirebaseReference; @Override protected void onCreate(Bundle savedInstanceState) { super.onCreate(savedInstanceState); setContentView(R.layout.activity_main); // Inisialisasi Instance &amp; Reference Database mFirebaseDatabase = FirebaseDatabase.getInstance(); mFirebaseReference = mFirebaseDatabase.getReference("agendas"); }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81000"/>
            <a:ext cx="5000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6 • INISIALISASI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0075"/>
            <a:ext cx="5000625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Inisialisasi Firebase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636490"/>
            <a:ext cx="10572750" cy="2600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AFC"/>
                </a:solidFill>
                <a:latin typeface="JetBrains Mono"/>
              </a:rPr>
              <a:t>public class MainActivity extends AppCompatActivity { private FirebaseDatabase mFirebaseDatabase; private DatabaseReference mFirebaseReference; @Override protected void onCreate(Bundle savedInstanceState) { super.onCreate(savedInstanceState); setContentView(R.layout.activity_main); // Inisialisasi Instance &amp; Reference Database mFirebaseDatabase = FirebaseDatabase.getInstance(); mFirebaseReference = mFirebaseDatabase.getReference("agendas"); } 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658475" y="643830"/>
            <a:ext cx="923925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31727"/>
            <a:ext cx="10972800" cy="2609850"/>
          </a:xfrm>
          <a:prstGeom prst="roundRect">
            <a:avLst>
              <a:gd name="adj" fmla="val 364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631727"/>
            <a:ext cx="38100" cy="26098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91825" y="700980"/>
            <a:ext cx="7524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setValue()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822227"/>
            <a:ext cx="10610850" cy="2228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AFC"/>
                </a:solidFill>
                <a:latin typeface="Inter"/>
              </a:rPr>
              <a:t>public void simpanAgenda(View view) { String item = editAgenda.getText().toString(); // Generate Unique Push Key NoSQL String id = mFirebaseReference.push().getKey(); Agenda agenda = new Agenda(id, item); // Simpan Objek Java ke Node Child mFirebaseReference.child(id).setValue(agenda); Toast.makeText(this, "Agenda ditambahkan", Toast.LENGTH_LONG).show();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81000"/>
            <a:ext cx="4714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6 • OPERASI 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0075"/>
            <a:ext cx="4714875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Menyimpan Data ke Firebase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822227"/>
            <a:ext cx="10572750" cy="2228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AFC"/>
                </a:solidFill>
                <a:latin typeface="JetBrains Mono"/>
              </a:rPr>
              <a:t>public void simpanAgenda(View view) { String item = editAgenda.getText().toString(); // Generate Unique Push Key NoSQL String id = mFirebaseReference.push().getKey(); Agenda agenda = new Agenda(id, item); // Simpan Objek Java ke Node Child mFirebaseReference.child(id).setValue(agenda); Toast.makeText(this, "Agenda ditambahkan", Toast.LENGTH_LONG).show(); 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048875" y="643830"/>
            <a:ext cx="1533525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981646"/>
            <a:ext cx="10972800" cy="3910012"/>
          </a:xfrm>
          <a:prstGeom prst="roundRect">
            <a:avLst>
              <a:gd name="adj" fmla="val 243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981646"/>
            <a:ext cx="38100" cy="391001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82225" y="700980"/>
            <a:ext cx="13620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ValueEventListener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172146"/>
            <a:ext cx="10610850" cy="3529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AFC"/>
                </a:solidFill>
                <a:latin typeface="Inter"/>
              </a:rPr>
              <a:t>@Override protected void onStart() { super.onStart(); mFirebaseReference.addValueEventListener(new ValueEventListener() { @Override public void onDataChange(DataSnapshot dataSnapshot) { agendas.clear(); for (DataSnapshot postSnapshot : dataSnapshot.getChildren()) { Agenda agenda = postSnapshot.getValue(Agenda.class); agendas.add(agenda); } AgendaList adapter = new AgendaList(MainActivity.this, agendas); listAgenda.setAdapter(adapter); } @Override public void onCancelled(DatabaseError databaseError) {} });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81000"/>
            <a:ext cx="5405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6 • OPERASI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0075"/>
            <a:ext cx="5405437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Membaca Data Realtime Listener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172146"/>
            <a:ext cx="10572750" cy="3529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AFC"/>
                </a:solidFill>
                <a:latin typeface="JetBrains Mono"/>
              </a:rPr>
              <a:t>@Override protected void onStart() { super.onStart(); mFirebaseReference.addValueEventListener(new ValueEventListener() { @Override public void onDataChange(DataSnapshot dataSnapshot) { agendas.clear(); for (DataSnapshot postSnapshot : dataSnapshot.getChildren()) { Agenda agenda = postSnapshot.getValue(Agenda.class); agendas.add(agenda); } AgendaList adapter = new AgendaList(MainActivity.this, agendas); listAgenda.setAdapter(adapter); } @Override public void onCancelled(DatabaseError databaseError) {} }); 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96525" y="643830"/>
            <a:ext cx="1285875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29396"/>
            <a:ext cx="5372100" cy="1814512"/>
          </a:xfrm>
          <a:prstGeom prst="roundRect">
            <a:avLst>
              <a:gd name="adj" fmla="val 629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122265"/>
            <a:ext cx="537210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3629471"/>
            <a:ext cx="4895850" cy="938212"/>
          </a:xfrm>
          <a:prstGeom prst="roundRect">
            <a:avLst>
              <a:gd name="adj" fmla="val 1015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7725" y="3629471"/>
            <a:ext cx="38100" cy="93821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8425" y="3722340"/>
            <a:ext cx="4895850" cy="752475"/>
          </a:xfrm>
          <a:prstGeom prst="roundRect">
            <a:avLst>
              <a:gd name="adj" fmla="val 1265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48425" y="3722340"/>
            <a:ext cx="38100" cy="7524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9875" y="700980"/>
            <a:ext cx="11144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Update &amp; Delete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81000"/>
            <a:ext cx="539353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MODUL 6 • UPDATE &amp; DELETE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0075"/>
            <a:ext cx="5393531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Memperbarui &amp; Menghapus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305621"/>
            <a:ext cx="61198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Update Agenda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819971"/>
            <a:ext cx="453390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AFC"/>
                </a:solidFill>
                <a:latin typeface="Inter"/>
              </a:rPr>
              <a:t>private boolean updateAgenda(String id, String item) { Agenda agenda = new Agenda(id, item); mFirebaseReference.child(id).setValue(agenda); return true;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3398490"/>
            <a:ext cx="5743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Delete Agenda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7025" y="3912840"/>
            <a:ext cx="45339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AFC"/>
                </a:solidFill>
                <a:latin typeface="Inter"/>
              </a:rPr>
              <a:t>private boolean deleteAgenda(String id) { mFirebaseReference.child(id).removeValue(); return true; 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44175" y="643830"/>
            <a:ext cx="1038225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41612"/>
            <a:ext cx="152400" cy="180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533923"/>
            <a:ext cx="152400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926234"/>
            <a:ext cx="152400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318545"/>
            <a:ext cx="152400" cy="180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77525" y="700980"/>
            <a:ext cx="8667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Kesimpulan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81000"/>
            <a:ext cx="5786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RANGKUMAN AKHIR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00075"/>
            <a:ext cx="5786437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Kesimpulan Komprehensif 6 Modul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50" y="3108275"/>
            <a:ext cx="1129665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Komponen Dasar: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Activity, Intent, dan Fragment merupakan pilar utama pembangunan struktur navigasi aplikasi Android.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3500586"/>
            <a:ext cx="1129665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UI/UX Modern: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Penggunaan ConstraintLayout dan RecyclerView menjamin efisiensi memori dan fleksibilitas antarmuka pengguna.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3892897"/>
            <a:ext cx="1129665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Tugas Latar Belakang: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AlarmManager, JobScheduler, dan Notification menjaga fungsionalitas aplikasi di luar foreground.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4285208"/>
            <a:ext cx="107823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Penyimpanan Hybrid: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Kombinasi SharedPreferences &amp; SQLite untuk storage lokal privat, serta Firebase untuk sinkronisasi realtime cloud.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10250" y="4338637"/>
            <a:ext cx="5715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625" y="1985962"/>
            <a:ext cx="666750" cy="53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39167" y="2747962"/>
            <a:ext cx="9313664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Inter"/>
              </a:rPr>
              <a:t>Terima Kasih! Ada Pertanyaan?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462337"/>
            <a:ext cx="714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Sesi Tanya Jawab Perkuliahan Pemrograman Mobile Android dengan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38625" y="4681537"/>
            <a:ext cx="3714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CBD5E1"/>
                </a:solidFill>
                <a:latin typeface="Inter"/>
              </a:rPr>
              <a:t>Modul Referensi Resmi oleh Erma Susanti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